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A01C1C"/>
                </a:solidFill>
                <a:latin typeface="Times New Roman"/>
              </a:defRPr>
            </a:pPr>
            <a:r>
              <a:t>Amrita Vishwa Vidyapeetham, Amaravati Campus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051560"/>
            <a:ext cx="9448495" cy="13716"/>
          </a:xfrm>
          <a:prstGeom prst="rect">
            <a:avLst/>
          </a:prstGeom>
          <a:solidFill>
            <a:srgbClr val="D2D2D2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2865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222222"/>
                </a:solidFill>
                <a:latin typeface="Times New Roman"/>
              </a:defRPr>
            </a:pPr>
            <a:r>
              <a:t>Lab-Based Project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0F2043"/>
                </a:solidFill>
                <a:latin typeface="Times New Roman"/>
              </a:defRPr>
            </a:pPr>
            <a:r>
              <a:t>Adaptive Multi-Robot Networking &amp; Acoustic Telemetry in UWSN for Harbor Monitoring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011680" y="2743200"/>
          <a:ext cx="8168335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63440"/>
                <a:gridCol w="3504895"/>
              </a:tblGrid>
              <a:tr h="4114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Name of the Student</a:t>
                      </a:r>
                    </a:p>
                  </a:txBody>
                  <a:tcPr anchor="ctr">
                    <a:solidFill>
                      <a:srgbClr val="E0701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Roll No.</a:t>
                      </a:r>
                    </a:p>
                  </a:txBody>
                  <a:tcPr anchor="ctr">
                    <a:solidFill>
                      <a:srgbClr val="E0701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J Kiran Sri Datta Sai</a:t>
                      </a:r>
                    </a:p>
                  </a:txBody>
                  <a:tcPr anchor="ctr">
                    <a:solidFill>
                      <a:srgbClr val="FEF0D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AV.SC.U4AIE24121</a:t>
                      </a:r>
                    </a:p>
                  </a:txBody>
                  <a:tcPr anchor="ctr">
                    <a:solidFill>
                      <a:srgbClr val="FEF0D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Mogalapalli H N V Satya Sai Ganesh</a:t>
                      </a:r>
                    </a:p>
                  </a:txBody>
                  <a:tcPr anchor="ctr"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AV.SC.U4AIE24139</a:t>
                      </a:r>
                    </a:p>
                  </a:txBody>
                  <a:tcPr anchor="ctr">
                    <a:solidFill>
                      <a:srgbClr val="FFF8F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Penigonda Rahul</a:t>
                      </a:r>
                    </a:p>
                  </a:txBody>
                  <a:tcPr anchor="ctr">
                    <a:solidFill>
                      <a:srgbClr val="FEF0D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AV.SC.U4AIE24151</a:t>
                      </a:r>
                    </a:p>
                  </a:txBody>
                  <a:tcPr anchor="ctr">
                    <a:solidFill>
                      <a:srgbClr val="FEF0D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4892040"/>
            <a:ext cx="1072865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i="1" sz="1400">
                <a:solidFill>
                  <a:srgbClr val="222222"/>
                </a:solidFill>
                <a:latin typeface="Times New Roman"/>
              </a:defRPr>
            </a:pPr>
            <a:r>
              <a:t>Under the Guidance of</a:t>
            </a:r>
          </a:p>
          <a:p>
            <a:pPr algn="ctr">
              <a:defRPr b="1" sz="1600">
                <a:solidFill>
                  <a:srgbClr val="222222"/>
                </a:solidFill>
                <a:latin typeface="Times New Roman"/>
              </a:defRPr>
            </a:pPr>
            <a:r>
              <a:t>Dr Ravishankar Prakash Desai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35200"/>
          </a:solidFill>
          <a:ln>
            <a:solidFill>
              <a:srgbClr val="C35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11460175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04-10-2026                 INTRODUCTION TO AI ROBOTICS (22AIE214)              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  <a:latin typeface="Times New Roman"/>
              </a:defRPr>
            </a:pPr>
            <a:r>
              <a:t>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15568"/>
            <a:ext cx="10728655" cy="18288"/>
          </a:xfrm>
          <a:prstGeom prst="rect">
            <a:avLst/>
          </a:prstGeom>
          <a:solidFill>
            <a:srgbClr val="D2D2D2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6217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222222"/>
                </a:solidFill>
                <a:latin typeface="Arial"/>
              </a:defRPr>
            </a:pPr>
            <a:r>
              <a:t>• Maritime commerce accounts for over 80% of global freight transport; harbor traffic density poses extreme navigational safety and coastal defense challenges.</a:t>
            </a:r>
          </a:p>
          <a:p>
            <a:pPr>
              <a:spcAft>
                <a:spcPts val="1200"/>
              </a:spcAft>
              <a:defRPr sz="1300">
                <a:solidFill>
                  <a:srgbClr val="222222"/>
                </a:solidFill>
                <a:latin typeface="Arial"/>
              </a:defRPr>
            </a:pPr>
            <a:r>
              <a:t>• Conventional monitoring depends heavily on surface radar (VTS) and transponders (AIS), which cannot penetrate water columns and can be deactivated by rogue vessels.</a:t>
            </a:r>
          </a:p>
          <a:p>
            <a:pPr>
              <a:spcAft>
                <a:spcPts val="1200"/>
              </a:spcAft>
              <a:defRPr sz="1300">
                <a:solidFill>
                  <a:srgbClr val="222222"/>
                </a:solidFill>
                <a:latin typeface="Arial"/>
              </a:defRPr>
            </a:pPr>
            <a:r>
              <a:t>• Underwater Wireless Sensor Networks (UWSNs) provide submerged monitoring, but static seabed sensors suffer from high acoustic attenuation, multi-path fading, and battery depletion.</a:t>
            </a:r>
          </a:p>
          <a:p>
            <a:pPr>
              <a:spcAft>
                <a:spcPts val="1200"/>
              </a:spcAft>
              <a:defRPr sz="1300">
                <a:solidFill>
                  <a:srgbClr val="222222"/>
                </a:solidFill>
                <a:latin typeface="Arial"/>
              </a:defRPr>
            </a:pPr>
            <a:r>
              <a:t>• Harsh ocean dynamics, thermocline gradients, and seasonal storms (monsoons) severely degrade acoustic modem Signal-to-Noise Ratio (SNR), severing static links.</a:t>
            </a:r>
          </a:p>
          <a:p>
            <a:pPr>
              <a:spcAft>
                <a:spcPts val="1200"/>
              </a:spcAft>
              <a:defRPr sz="1300">
                <a:solidFill>
                  <a:srgbClr val="222222"/>
                </a:solidFill>
                <a:latin typeface="Arial"/>
              </a:defRPr>
            </a:pPr>
            <a:r>
              <a:t>• Integrating Autonomous Underwater Vehicles (AUVs) as dynamic swarm relays bridges communication dead zones and enables proactive autonomous maritime traffic governance.</a:t>
            </a:r>
          </a:p>
        </p:txBody>
      </p:sp>
      <p:pic>
        <p:nvPicPr>
          <p:cNvPr id="5" name="Picture 4" descr="harbor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463040"/>
            <a:ext cx="4389120" cy="237032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35200"/>
          </a:solidFill>
          <a:ln>
            <a:solidFill>
              <a:srgbClr val="C35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60175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04-10-2026                 INTRODUCTION TO AI ROBOTICS (22AIE214)            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  <a:latin typeface="Times New Roman"/>
              </a:defRPr>
            </a:pPr>
            <a:r>
              <a:t>Problem Statement, Objectives and Programming Language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15568"/>
            <a:ext cx="10728655" cy="18288"/>
          </a:xfrm>
          <a:prstGeom prst="rect">
            <a:avLst/>
          </a:prstGeom>
          <a:solidFill>
            <a:srgbClr val="D2D2D2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6675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A01C1C"/>
                </a:solidFill>
                <a:latin typeface="Arial"/>
              </a:defRPr>
            </a:pPr>
            <a:r>
              <a:t>Problem Statement:</a:t>
            </a:r>
          </a:p>
          <a:p>
            <a:pPr>
              <a:spcAft>
                <a:spcPts val="1000"/>
              </a:spcAft>
              <a:defRPr sz="1200">
                <a:solidFill>
                  <a:srgbClr val="222222"/>
                </a:solidFill>
                <a:latin typeface="Arial"/>
              </a:defRPr>
            </a:pPr>
            <a:r>
              <a:t>Traditional coastal monitoring cannot detect non-cooperative underwater and surface vessels in all-weather conditions. Static underwater sensor networks suffer from limited communication range, high ambient noise, and topology fragmentation during storm surges.</a:t>
            </a:r>
          </a:p>
          <a:p>
            <a:pPr>
              <a:defRPr b="1" sz="1400">
                <a:solidFill>
                  <a:srgbClr val="A01C1C"/>
                </a:solidFill>
                <a:latin typeface="Arial"/>
              </a:defRPr>
            </a:pPr>
            <a:r>
              <a:t>Objectives:</a:t>
            </a:r>
          </a:p>
          <a:p>
            <a:pPr>
              <a:spcAft>
                <a:spcPts val="600"/>
              </a:spcAft>
              <a:defRPr sz="1150">
                <a:solidFill>
                  <a:srgbClr val="222222"/>
                </a:solidFill>
                <a:latin typeface="Arial"/>
              </a:defRPr>
            </a:pPr>
            <a:r>
              <a:t>• Simulate a 10 km × 10 km harbor domain with 35 moored hydrophones, 8 AUVs, and 3 surface gateway buoys.</a:t>
            </a:r>
          </a:p>
          <a:p>
            <a:pPr>
              <a:spcAft>
                <a:spcPts val="600"/>
              </a:spcAft>
              <a:defRPr sz="1150">
                <a:solidFill>
                  <a:srgbClr val="222222"/>
                </a:solidFill>
                <a:latin typeface="Arial"/>
              </a:defRPr>
            </a:pPr>
            <a:r>
              <a:t>• Model empirical underwater acoustics: Mackenzie sound speed, Ross propeller noise, Thorp attenuation, and Wenz ambient noise.</a:t>
            </a:r>
          </a:p>
          <a:p>
            <a:pPr>
              <a:spcAft>
                <a:spcPts val="600"/>
              </a:spcAft>
              <a:defRPr sz="1150">
                <a:solidFill>
                  <a:srgbClr val="222222"/>
                </a:solidFill>
                <a:latin typeface="Arial"/>
              </a:defRPr>
            </a:pPr>
            <a:r>
              <a:t>• Extract 23 acoustic features and train a multi-task deep neural network (VesselMLP) to classify 6 ship types and predict displacement weight.</a:t>
            </a:r>
          </a:p>
          <a:p>
            <a:pPr>
              <a:spcAft>
                <a:spcPts val="600"/>
              </a:spcAft>
              <a:defRPr sz="1150">
                <a:solidFill>
                  <a:srgbClr val="222222"/>
                </a:solidFill>
                <a:latin typeface="Arial"/>
              </a:defRPr>
            </a:pPr>
            <a:r>
              <a:t>• Implement Depth-Based Routing (DBR) with binary packet compression to achieve low latency and conserve battery energy.</a:t>
            </a:r>
          </a:p>
          <a:p>
            <a:pPr>
              <a:spcAft>
                <a:spcPts val="600"/>
              </a:spcAft>
              <a:defRPr sz="1150">
                <a:solidFill>
                  <a:srgbClr val="222222"/>
                </a:solidFill>
                <a:latin typeface="Arial"/>
              </a:defRPr>
            </a:pPr>
            <a:r>
              <a:t>• Automate harbor traffic governance: speed violation detection, Line of Control (LOC) fairway screening, and dock berth allocation.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80960" y="1371600"/>
            <a:ext cx="3840480" cy="4754880"/>
          </a:xfrm>
          <a:prstGeom prst="roundRect">
            <a:avLst/>
          </a:prstGeom>
          <a:solidFill>
            <a:srgbClr val="FEF0DE"/>
          </a:solidFill>
          <a:ln w="19050">
            <a:solidFill>
              <a:srgbClr val="F0A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18120" y="1463040"/>
            <a:ext cx="3566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b="1" sz="1500">
                <a:solidFill>
                  <a:srgbClr val="C35200"/>
                </a:solidFill>
                <a:latin typeface="Arial"/>
              </a:defRPr>
            </a:pPr>
            <a:r>
              <a:t>Tools &amp; Environment Used</a:t>
            </a:r>
          </a:p>
          <a:p>
            <a:pPr>
              <a:spcAft>
                <a:spcPts val="600"/>
              </a:spcAft>
              <a:defRPr b="1" sz="1150">
                <a:solidFill>
                  <a:srgbClr val="222222"/>
                </a:solidFill>
                <a:latin typeface="Arial"/>
              </a:defRPr>
            </a:pPr>
            <a:r>
              <a:t>• Language: </a:t>
            </a:r>
            <a:r>
              <a:rPr b="0">
                <a:solidFill>
                  <a:srgbClr val="3C3C3C"/>
                </a:solidFill>
              </a:rPr>
              <a:t>Python 3.9+</a:t>
            </a:r>
          </a:p>
          <a:p>
            <a:pPr>
              <a:spcAft>
                <a:spcPts val="600"/>
              </a:spcAft>
              <a:defRPr b="1" sz="1150">
                <a:solidFill>
                  <a:srgbClr val="222222"/>
                </a:solidFill>
                <a:latin typeface="Arial"/>
              </a:defRPr>
            </a:pPr>
            <a:r>
              <a:t>• AI / ML: </a:t>
            </a:r>
            <a:r>
              <a:rPr b="0">
                <a:solidFill>
                  <a:srgbClr val="3C3C3C"/>
                </a:solidFill>
              </a:rPr>
              <a:t>PyTorch (VesselMLP), Scikit-Learn</a:t>
            </a:r>
          </a:p>
          <a:p>
            <a:pPr>
              <a:spcAft>
                <a:spcPts val="600"/>
              </a:spcAft>
              <a:defRPr b="1" sz="1150">
                <a:solidFill>
                  <a:srgbClr val="222222"/>
                </a:solidFill>
                <a:latin typeface="Arial"/>
              </a:defRPr>
            </a:pPr>
            <a:r>
              <a:t>• Networking: </a:t>
            </a:r>
            <a:r>
              <a:rPr b="0">
                <a:solidFill>
                  <a:srgbClr val="3C3C3C"/>
                </a:solidFill>
              </a:rPr>
              <a:t>NetworkX (Dynamic DBR Graphs)</a:t>
            </a:r>
          </a:p>
          <a:p>
            <a:pPr>
              <a:spcAft>
                <a:spcPts val="600"/>
              </a:spcAft>
              <a:defRPr b="1" sz="1150">
                <a:solidFill>
                  <a:srgbClr val="222222"/>
                </a:solidFill>
                <a:latin typeface="Arial"/>
              </a:defRPr>
            </a:pPr>
            <a:r>
              <a:t>• Physics &amp; Math: </a:t>
            </a:r>
            <a:r>
              <a:rPr b="0">
                <a:solidFill>
                  <a:srgbClr val="3C3C3C"/>
                </a:solidFill>
              </a:rPr>
              <a:t>NumPy, SciPy (Acoustic Equations)</a:t>
            </a:r>
          </a:p>
          <a:p>
            <a:pPr>
              <a:spcAft>
                <a:spcPts val="600"/>
              </a:spcAft>
              <a:defRPr b="1" sz="1150">
                <a:solidFill>
                  <a:srgbClr val="222222"/>
                </a:solidFill>
                <a:latin typeface="Arial"/>
              </a:defRPr>
            </a:pPr>
            <a:r>
              <a:t>• GUI &amp; Dashboards: </a:t>
            </a:r>
            <a:r>
              <a:rPr b="0">
                <a:solidFill>
                  <a:srgbClr val="3C3C3C"/>
                </a:solidFill>
              </a:rPr>
              <a:t>Matplotlib 3D, Tkinter, HTML5/JS</a:t>
            </a:r>
          </a:p>
          <a:p>
            <a:pPr>
              <a:spcAft>
                <a:spcPts val="600"/>
              </a:spcAft>
              <a:defRPr b="1" sz="1150">
                <a:solidFill>
                  <a:srgbClr val="222222"/>
                </a:solidFill>
                <a:latin typeface="Arial"/>
              </a:defRPr>
            </a:pPr>
            <a:r>
              <a:t>• Dataset: </a:t>
            </a:r>
            <a:r>
              <a:rPr b="0">
                <a:solidFill>
                  <a:srgbClr val="3C3C3C"/>
                </a:solidFill>
              </a:rPr>
              <a:t>132,000+ Acoustic Telemetry Records</a:t>
            </a:r>
          </a:p>
          <a:p>
            <a:pPr>
              <a:spcAft>
                <a:spcPts val="600"/>
              </a:spcAft>
              <a:defRPr b="1" sz="1150">
                <a:solidFill>
                  <a:srgbClr val="222222"/>
                </a:solidFill>
                <a:latin typeface="Arial"/>
              </a:defRPr>
            </a:pPr>
            <a:r>
              <a:t>• Deployment: </a:t>
            </a:r>
            <a:r>
              <a:rPr b="0">
                <a:solidFill>
                  <a:srgbClr val="3C3C3C"/>
                </a:solidFill>
              </a:rPr>
              <a:t>Decoupled Web Server (Port 8000)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35200"/>
          </a:solidFill>
          <a:ln>
            <a:solidFill>
              <a:srgbClr val="C35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92240"/>
            <a:ext cx="11460175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04-10-2026                 INTRODUCTION TO AI ROBOTICS (22AIE214)            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  <a:latin typeface="Times New Roman"/>
              </a:defRPr>
            </a:pPr>
            <a:r>
              <a:t>Methodology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15568"/>
            <a:ext cx="10728655" cy="18288"/>
          </a:xfrm>
          <a:prstGeom prst="rect">
            <a:avLst/>
          </a:prstGeom>
          <a:solidFill>
            <a:srgbClr val="D2D2D2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C35200"/>
                </a:solidFill>
                <a:latin typeface="Arial"/>
              </a:defRPr>
            </a:pPr>
            <a:r>
              <a:t>Robotic System Architecture:</a:t>
            </a:r>
          </a:p>
          <a:p>
            <a:pPr>
              <a:spcAft>
                <a:spcPts val="800"/>
              </a:spcAft>
              <a:defRPr sz="1150">
                <a:solidFill>
                  <a:srgbClr val="222222"/>
                </a:solidFill>
                <a:latin typeface="Arial"/>
              </a:defRPr>
            </a:pPr>
            <a:r>
              <a:t>Multi-tier cyber-physical network in a 10 km × 10 km harbor domain: 35 moored seabed hydrophones (depth -50m to -65m), 8 autonomous mobile AUVs (depth -10m to -25m), and 3 surface gateway buoys (Z = 0m).</a:t>
            </a:r>
          </a:p>
          <a:p>
            <a:pPr>
              <a:defRPr b="1" sz="1300">
                <a:solidFill>
                  <a:srgbClr val="C35200"/>
                </a:solidFill>
                <a:latin typeface="Arial"/>
              </a:defRPr>
            </a:pPr>
            <a:r>
              <a:t>Acoustic Physics &amp; Sensing Pipeline:</a:t>
            </a:r>
          </a:p>
          <a:p>
            <a:pPr>
              <a:spcAft>
                <a:spcPts val="800"/>
              </a:spcAft>
              <a:defRPr sz="1150">
                <a:solidFill>
                  <a:srgbClr val="222222"/>
                </a:solidFill>
                <a:latin typeface="Arial"/>
              </a:defRPr>
            </a:pPr>
            <a:r>
              <a:t>Vessels radiate propeller and machinery sound (Ross model). Hydrophones sample received acoustic pressure, calculate Doppler shift and transmission loss (Mackenzie sound speed + Thorp absorption), and compile a 23-feature telemetry vector.</a:t>
            </a:r>
          </a:p>
          <a:p>
            <a:pPr>
              <a:defRPr b="1" sz="1300">
                <a:solidFill>
                  <a:srgbClr val="C35200"/>
                </a:solidFill>
                <a:latin typeface="Arial"/>
              </a:defRPr>
            </a:pPr>
            <a:r>
              <a:t>Multi-Task Deep Learning Inference (VesselMLP):</a:t>
            </a:r>
          </a:p>
          <a:p>
            <a:pPr>
              <a:spcAft>
                <a:spcPts val="800"/>
              </a:spcAft>
              <a:defRPr sz="1150">
                <a:solidFill>
                  <a:srgbClr val="222222"/>
                </a:solidFill>
                <a:latin typeface="Arial"/>
              </a:defRPr>
            </a:pPr>
            <a:r>
              <a:t>A unified PyTorch neural network with 3 shared latent layers (128 → 64 → 32) feeds dual heads simultaneously: 6-class ship classification (Cargo, Tanker, Cruiser, Ferry, Speedboat, Fishing Vessel) via Cross-Entropy and displacement weight regression via MSE.</a:t>
            </a:r>
          </a:p>
          <a:p>
            <a:pPr>
              <a:defRPr b="1" sz="1300">
                <a:solidFill>
                  <a:srgbClr val="C35200"/>
                </a:solidFill>
                <a:latin typeface="Arial"/>
              </a:defRPr>
            </a:pPr>
            <a:r>
              <a:t>Adaptive Depth-Based Routing (DBR) &amp; Swarm Relaying:</a:t>
            </a:r>
          </a:p>
          <a:p>
            <a:pPr>
              <a:spcAft>
                <a:spcPts val="800"/>
              </a:spcAft>
              <a:defRPr sz="1150">
                <a:solidFill>
                  <a:srgbClr val="222222"/>
                </a:solidFill>
                <a:latin typeface="Arial"/>
              </a:defRPr>
            </a:pPr>
            <a:r>
              <a:t>Packets route greedily along negative depth gradients towards surface buoys. Under 70/30 sensor sleep duty cycles or monsoon link severance, mobile AUVs autonomously act as data mules, dynamic relays, and overspeed interceptors.</a:t>
            </a:r>
          </a:p>
          <a:p>
            <a:pPr>
              <a:defRPr b="1" sz="1300">
                <a:solidFill>
                  <a:srgbClr val="C35200"/>
                </a:solidFill>
                <a:latin typeface="Arial"/>
              </a:defRPr>
            </a:pPr>
            <a:r>
              <a:t>Environmental Simulation &amp; Protocol Optimization:</a:t>
            </a:r>
          </a:p>
          <a:p>
            <a:pPr>
              <a:spcAft>
                <a:spcPts val="800"/>
              </a:spcAft>
              <a:defRPr sz="1150">
                <a:solidFill>
                  <a:srgbClr val="222222"/>
                </a:solidFill>
                <a:latin typeface="Arial"/>
              </a:defRPr>
            </a:pPr>
            <a:r>
              <a:t>Unified single-engine simulation comparing Normal Season (65.8 dB ambient noise) vs. Monsoon Season (91.9 dB noise, 2.6× storm currents). 16-byte packet compression slashes transmission delay and modem battery consumption by 93.75%.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35200"/>
          </a:solidFill>
          <a:ln>
            <a:solidFill>
              <a:srgbClr val="C35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04-10-2026                 INTRODUCTION TO AI ROBOTICS (22AIE214)            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  <a:latin typeface="Times New Roman"/>
              </a:defRPr>
            </a:pPr>
            <a:r>
              <a:t>Flow-chart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15568"/>
            <a:ext cx="10728655" cy="18288"/>
          </a:xfrm>
          <a:prstGeom prst="rect">
            <a:avLst/>
          </a:prstGeom>
          <a:solidFill>
            <a:srgbClr val="D2D2D2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280160"/>
            <a:ext cx="8168335" cy="651816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35200"/>
          </a:solidFill>
          <a:ln>
            <a:solidFill>
              <a:srgbClr val="C35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04-10-2026                 INTRODUCTION TO AI ROBOTICS (22AIE214)            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  <a:latin typeface="Times New Roman"/>
              </a:defRPr>
            </a:pPr>
            <a:r>
              <a:t>Simulation Result: Machine Learning &amp; Classification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15568"/>
            <a:ext cx="10728655" cy="18288"/>
          </a:xfrm>
          <a:prstGeom prst="rect">
            <a:avLst/>
          </a:prstGeom>
          <a:solidFill>
            <a:srgbClr val="D2D2D2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l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6583680" cy="45677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79" y="1280160"/>
            <a:ext cx="4114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600">
                <a:solidFill>
                  <a:srgbClr val="0F2043"/>
                </a:solidFill>
                <a:latin typeface="Arial"/>
              </a:defRPr>
            </a:pPr>
            <a:r>
              <a:t>Key ML Performance Metrics</a:t>
            </a:r>
          </a:p>
          <a:p>
            <a:pPr>
              <a:spcAft>
                <a:spcPts val="800"/>
              </a:spcAft>
              <a:defRPr sz="1200">
                <a:solidFill>
                  <a:srgbClr val="222222"/>
                </a:solidFill>
                <a:latin typeface="Arial"/>
              </a:defRPr>
            </a:pPr>
            <a:r>
              <a:t>• Overall Test Accuracy: 95.80% across 6 maritime vessel categories.</a:t>
            </a:r>
          </a:p>
          <a:p>
            <a:pPr>
              <a:spcAft>
                <a:spcPts val="800"/>
              </a:spcAft>
              <a:defRPr sz="1200">
                <a:solidFill>
                  <a:srgbClr val="222222"/>
                </a:solidFill>
                <a:latin typeface="Arial"/>
              </a:defRPr>
            </a:pPr>
            <a:r>
              <a:t>• Macro Average AUC: 0.989, demonstrating near-perfect discriminative capability across noisy acoustic regimes.</a:t>
            </a:r>
          </a:p>
          <a:p>
            <a:pPr>
              <a:spcAft>
                <a:spcPts val="800"/>
              </a:spcAft>
              <a:defRPr sz="1200">
                <a:solidFill>
                  <a:srgbClr val="222222"/>
                </a:solidFill>
                <a:latin typeface="Arial"/>
              </a:defRPr>
            </a:pPr>
            <a:r>
              <a:t>• Class Sensitivity: Speedboat (98.0%), Tanker (98.0%), Fishing Vessel (97.0%), Cargo Ship (96.0%).</a:t>
            </a:r>
          </a:p>
          <a:p>
            <a:pPr>
              <a:spcAft>
                <a:spcPts val="800"/>
              </a:spcAft>
              <a:defRPr sz="1200">
                <a:solidFill>
                  <a:srgbClr val="222222"/>
                </a:solidFill>
                <a:latin typeface="Arial"/>
              </a:defRPr>
            </a:pPr>
            <a:r>
              <a:t>• Loss Convergence: Joint Cross-Entropy + MSE loss dropped monotonically from 1.020 → 0.048.</a:t>
            </a:r>
          </a:p>
          <a:p>
            <a:pPr>
              <a:spcAft>
                <a:spcPts val="800"/>
              </a:spcAft>
              <a:defRPr sz="1200">
                <a:solidFill>
                  <a:srgbClr val="222222"/>
                </a:solidFill>
                <a:latin typeface="Arial"/>
              </a:defRPr>
            </a:pPr>
            <a:r>
              <a:t>• Continuous Weight Estimation: High fidelity regression from 1 kTon to 400 kTon displacement weight.</a:t>
            </a:r>
          </a:p>
          <a:p>
            <a:pPr>
              <a:spcAft>
                <a:spcPts val="800"/>
              </a:spcAft>
              <a:defRPr sz="1200">
                <a:solidFill>
                  <a:srgbClr val="222222"/>
                </a:solidFill>
                <a:latin typeface="Arial"/>
              </a:defRPr>
            </a:pPr>
            <a:r>
              <a:t>• Real-Time Execution: Sub-millisecond inference (&lt;0.8 ms) enables instantaneous traffic decision making.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35200"/>
          </a:solidFill>
          <a:ln>
            <a:solidFill>
              <a:srgbClr val="C35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60175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04-10-2026                 INTRODUCTION TO AI ROBOTICS (22AIE214)             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  <a:latin typeface="Times New Roman"/>
              </a:defRPr>
            </a:pPr>
            <a:r>
              <a:t>Simulation Result: Multi-Robot Networking &amp; Scenarios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15568"/>
            <a:ext cx="10728655" cy="18288"/>
          </a:xfrm>
          <a:prstGeom prst="rect">
            <a:avLst/>
          </a:prstGeom>
          <a:solidFill>
            <a:srgbClr val="D2D2D2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etworking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6583680" cy="29839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79" y="1280160"/>
            <a:ext cx="4114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600">
                <a:solidFill>
                  <a:srgbClr val="0F2043"/>
                </a:solidFill>
                <a:latin typeface="Arial"/>
              </a:defRPr>
            </a:pPr>
            <a:r>
              <a:t>Networking &amp; Swarm Resilience</a:t>
            </a:r>
          </a:p>
          <a:p>
            <a:pPr>
              <a:spcAft>
                <a:spcPts val="800"/>
              </a:spcAft>
              <a:defRPr sz="1150">
                <a:solidFill>
                  <a:srgbClr val="222222"/>
                </a:solidFill>
                <a:latin typeface="Arial"/>
              </a:defRPr>
            </a:pPr>
            <a:r>
              <a:t>• Monsoon Acoustic Degradation: Torrential rain and storm gale noise surge ambient noise by +26.1 dB (65.8 dB → 91.9 dB), cutting 1km modem SNR from 50.5 dB to 24.5 dB.</a:t>
            </a:r>
          </a:p>
          <a:p>
            <a:pPr>
              <a:spcAft>
                <a:spcPts val="800"/>
              </a:spcAft>
              <a:defRPr sz="1150">
                <a:solidFill>
                  <a:srgbClr val="222222"/>
                </a:solidFill>
                <a:latin typeface="Arial"/>
              </a:defRPr>
            </a:pPr>
            <a:r>
              <a:t>• Swarm Relay Resilience: Despite broken peripheral links and drifting sensors, mobile AUV relays maintain 92.4% Packet Delivery Ratio (vs 96.8% in calm seas).</a:t>
            </a:r>
          </a:p>
          <a:p>
            <a:pPr>
              <a:spcAft>
                <a:spcPts val="800"/>
              </a:spcAft>
              <a:defRPr sz="1150">
                <a:solidFill>
                  <a:srgbClr val="222222"/>
                </a:solidFill>
                <a:latin typeface="Arial"/>
              </a:defRPr>
            </a:pPr>
            <a:r>
              <a:t>• Adaptive Multi-Hop Routing: DBR automatically elevates average hop count from 1.4 → 2.3 hops to bypass acoustic partitions.</a:t>
            </a:r>
          </a:p>
          <a:p>
            <a:pPr>
              <a:spcAft>
                <a:spcPts val="800"/>
              </a:spcAft>
              <a:defRPr sz="1150">
                <a:solidFill>
                  <a:srgbClr val="222222"/>
                </a:solidFill>
                <a:latin typeface="Arial"/>
              </a:defRPr>
            </a:pPr>
            <a:r>
              <a:t>• Frame Compression Impact: Reducing packet size from 256B to 16B slashes transmission latency from 2.048s to 0.128s per hop (93.75% reduction).</a:t>
            </a:r>
          </a:p>
          <a:p>
            <a:pPr>
              <a:spcAft>
                <a:spcPts val="800"/>
              </a:spcAft>
              <a:defRPr sz="1150">
                <a:solidFill>
                  <a:srgbClr val="222222"/>
                </a:solidFill>
                <a:latin typeface="Arial"/>
              </a:defRPr>
            </a:pPr>
            <a:r>
              <a:t>• Energy Conservation: Modem energy consumption drops from 20.48 J → 1.28 J per hop, drastically extending subsea battery operational lifespan.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35200"/>
          </a:solidFill>
          <a:ln>
            <a:solidFill>
              <a:srgbClr val="C35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60175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04-10-2026                 INTRODUCTION TO AI ROBOTICS (22AIE214)             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  <a:latin typeface="Times New Roman"/>
              </a:defRPr>
            </a:pPr>
            <a: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15568"/>
            <a:ext cx="10728655" cy="18288"/>
          </a:xfrm>
          <a:prstGeom prst="rect">
            <a:avLst/>
          </a:prstGeom>
          <a:solidFill>
            <a:srgbClr val="D2D2D2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A01C1C"/>
                </a:solidFill>
                <a:latin typeface="Arial"/>
              </a:defRPr>
            </a:pPr>
            <a:r>
              <a:t>Conclusion:</a:t>
            </a:r>
          </a:p>
          <a:p>
            <a:pPr>
              <a:spcAft>
                <a:spcPts val="400"/>
              </a:spcAft>
              <a:defRPr sz="1150">
                <a:solidFill>
                  <a:srgbClr val="222222"/>
                </a:solidFill>
                <a:latin typeface="Arial"/>
              </a:defRPr>
            </a:pPr>
            <a:r>
              <a:t>• Developed a unified cyber-physical harbor traffic simulation integrating ocean acoustics, multi-task deep learning, and multi-robot networking across a 10 km × 10 km domain.</a:t>
            </a:r>
          </a:p>
          <a:p>
            <a:pPr>
              <a:spcAft>
                <a:spcPts val="400"/>
              </a:spcAft>
              <a:defRPr sz="1150">
                <a:solidFill>
                  <a:srgbClr val="222222"/>
                </a:solidFill>
                <a:latin typeface="Arial"/>
              </a:defRPr>
            </a:pPr>
            <a:r>
              <a:t>• Multi-task PyTorch VesselMLP successfully classifies 6 ship classes (95.8% accuracy) and predicts displacement weight from 23 passive acoustic telemetry features.</a:t>
            </a:r>
          </a:p>
          <a:p>
            <a:pPr>
              <a:spcAft>
                <a:spcPts val="400"/>
              </a:spcAft>
              <a:defRPr sz="1150">
                <a:solidFill>
                  <a:srgbClr val="222222"/>
                </a:solidFill>
                <a:latin typeface="Arial"/>
              </a:defRPr>
            </a:pPr>
            <a:r>
              <a:t>• Autonomous AUV swarm dynamically preserves network connectivity, achieving &gt;92% PDR even under severe monsoon noise (+26 dB) and 70/30 sensor sleep duty cycles.</a:t>
            </a:r>
          </a:p>
          <a:p>
            <a:pPr>
              <a:spcAft>
                <a:spcPts val="400"/>
              </a:spcAft>
              <a:defRPr sz="1150">
                <a:solidFill>
                  <a:srgbClr val="222222"/>
                </a:solidFill>
                <a:latin typeface="Arial"/>
              </a:defRPr>
            </a:pPr>
            <a:r>
              <a:t>• Binary telemetry frame compression achieves a 93.75% reduction in acoustic transmission delay and modem battery consumption.</a:t>
            </a:r>
          </a:p>
          <a:p>
            <a:pPr>
              <a:spcAft>
                <a:spcPts val="400"/>
              </a:spcAft>
              <a:defRPr sz="1150">
                <a:solidFill>
                  <a:srgbClr val="222222"/>
                </a:solidFill>
                <a:latin typeface="Arial"/>
              </a:defRPr>
            </a:pPr>
            <a:r>
              <a:t>• Autonomous traffic governance enforces harbor speed limits, screens vessels at the Line of Control, and automatically allocates designated dock berths.</a:t>
            </a:r>
          </a:p>
          <a:p>
            <a:pPr>
              <a:spcBef>
                <a:spcPts val="800"/>
              </a:spcBef>
              <a:defRPr b="1" sz="1500">
                <a:solidFill>
                  <a:srgbClr val="A01C1C"/>
                </a:solidFill>
                <a:latin typeface="Arial"/>
              </a:defRPr>
            </a:pPr>
            <a:r>
              <a:t>Future Scope:</a:t>
            </a:r>
          </a:p>
          <a:p>
            <a:pPr>
              <a:spcAft>
                <a:spcPts val="400"/>
              </a:spcAft>
              <a:defRPr sz="1150">
                <a:solidFill>
                  <a:srgbClr val="222222"/>
                </a:solidFill>
                <a:latin typeface="Arial"/>
              </a:defRPr>
            </a:pPr>
            <a:r>
              <a:t>• Physical Hardware Validation: Deploy on physical marine testbeds with subsea acoustic modems (EvoLogics / Subnero).</a:t>
            </a:r>
          </a:p>
          <a:p>
            <a:pPr>
              <a:spcAft>
                <a:spcPts val="400"/>
              </a:spcAft>
              <a:defRPr sz="1150">
                <a:solidFill>
                  <a:srgbClr val="222222"/>
                </a:solidFill>
                <a:latin typeface="Arial"/>
              </a:defRPr>
            </a:pPr>
            <a:r>
              <a:t>• Multi-Agent Reinforcement Learning (MARL): Implement cooperative swarm pathfinding, collision avoidance, and energy-optimal shadowing.</a:t>
            </a:r>
          </a:p>
          <a:p>
            <a:pPr>
              <a:spcAft>
                <a:spcPts val="400"/>
              </a:spcAft>
              <a:defRPr sz="1150">
                <a:solidFill>
                  <a:srgbClr val="222222"/>
                </a:solidFill>
                <a:latin typeface="Arial"/>
              </a:defRPr>
            </a:pPr>
            <a:r>
              <a:t>• Heterogeneous Cross-Domain Swarms: Integrate Autonomous Surface Vessels (ASVs) and aerial patrol drones (UAVs) for hybrid air-sea tracking.</a:t>
            </a:r>
          </a:p>
          <a:p>
            <a:pPr>
              <a:spcAft>
                <a:spcPts val="400"/>
              </a:spcAft>
              <a:defRPr sz="1150">
                <a:solidFill>
                  <a:srgbClr val="222222"/>
                </a:solidFill>
                <a:latin typeface="Arial"/>
              </a:defRPr>
            </a:pPr>
            <a:r>
              <a:t>• Adaptive Acoustic Modulation: Dynamic physical-layer OFDM bitrate switching based on instantaneous SNR and Doppler feedback.</a:t>
            </a:r>
          </a:p>
          <a:p>
            <a:pPr>
              <a:spcAft>
                <a:spcPts val="400"/>
              </a:spcAft>
              <a:defRPr sz="1150">
                <a:solidFill>
                  <a:srgbClr val="222222"/>
                </a:solidFill>
                <a:latin typeface="Arial"/>
              </a:defRPr>
            </a:pPr>
            <a:r>
              <a:t>• Edge Deployment: Port lightweight quantized VesselMLP models onto embedded AUV companion computers (NVIDIA Jetson Orin Nano).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35200"/>
          </a:solidFill>
          <a:ln>
            <a:solidFill>
              <a:srgbClr val="C35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04-10-2026                 INTRODUCTION TO AI ROBOTICS (22AIE214)             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  <a:latin typeface="Times New Roman"/>
              </a:defRPr>
            </a:pPr>
            <a:r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15568"/>
            <a:ext cx="10728655" cy="18288"/>
          </a:xfrm>
          <a:prstGeom prst="rect">
            <a:avLst/>
          </a:prstGeom>
          <a:solidFill>
            <a:srgbClr val="D2D2D2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>
                <a:solidFill>
                  <a:srgbClr val="222222"/>
                </a:solidFill>
                <a:latin typeface="Times New Roman"/>
              </a:defRPr>
            </a:pPr>
            <a:r>
              <a:t>[1] Mackenzie, K. V. (1981). Nine-term equation for sound speed in the oceans. The Journal of the Acoustical Society of America, 70(3), 807–812.</a:t>
            </a:r>
          </a:p>
          <a:p>
            <a:pPr>
              <a:spcAft>
                <a:spcPts val="1400"/>
              </a:spcAft>
              <a:defRPr sz="1200">
                <a:solidFill>
                  <a:srgbClr val="222222"/>
                </a:solidFill>
                <a:latin typeface="Times New Roman"/>
              </a:defRPr>
            </a:pPr>
            <a:r>
              <a:t>[2] Ross, D. (1976). Mechanics of Underwater Noise. Pergamon Press, New York.</a:t>
            </a:r>
          </a:p>
          <a:p>
            <a:pPr>
              <a:spcAft>
                <a:spcPts val="1400"/>
              </a:spcAft>
              <a:defRPr sz="1200">
                <a:solidFill>
                  <a:srgbClr val="222222"/>
                </a:solidFill>
                <a:latin typeface="Times New Roman"/>
              </a:defRPr>
            </a:pPr>
            <a:r>
              <a:t>[3] Wenz, G. M. (1962). Acoustic ambient noise in the ocean: Spectra and sources. The Journal of the Acoustical Society of America, 34(12), 1936–1956.</a:t>
            </a:r>
          </a:p>
          <a:p>
            <a:pPr>
              <a:spcAft>
                <a:spcPts val="1400"/>
              </a:spcAft>
              <a:defRPr sz="1200">
                <a:solidFill>
                  <a:srgbClr val="222222"/>
                </a:solidFill>
                <a:latin typeface="Times New Roman"/>
              </a:defRPr>
            </a:pPr>
            <a:r>
              <a:t>[4] Yan, H., Shi, Z. J., &amp; Cui, J. H. (2008). DBR: Depth-based routing for underwater sensor networks. In NETWORKING 2008: Ad Hoc and Sensor Networks, Wireless Networks, Next Generation Internet, 283–294. Springer.</a:t>
            </a:r>
          </a:p>
          <a:p>
            <a:pPr>
              <a:spcAft>
                <a:spcPts val="1400"/>
              </a:spcAft>
              <a:defRPr sz="1200">
                <a:solidFill>
                  <a:srgbClr val="222222"/>
                </a:solidFill>
                <a:latin typeface="Times New Roman"/>
              </a:defRPr>
            </a:pPr>
            <a:r>
              <a:t>[5] Akyildiz, I. F., Pompili, D., &amp; Melodia, T. (2005). Underwater acoustic sensor networks: research challenges. Ad Hoc Networks, 3(3), 257–279.</a:t>
            </a:r>
          </a:p>
          <a:p>
            <a:pPr>
              <a:spcAft>
                <a:spcPts val="1400"/>
              </a:spcAft>
              <a:defRPr sz="1200">
                <a:solidFill>
                  <a:srgbClr val="222222"/>
                </a:solidFill>
                <a:latin typeface="Times New Roman"/>
              </a:defRPr>
            </a:pPr>
            <a:r>
              <a:t>[6] Thorp, W. H. (1967). Analytic description of the low-frequency attenuation coefficient. The Journal of the Acoustical Society of America, 42(1), 270–270.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35200"/>
          </a:solidFill>
          <a:ln>
            <a:solidFill>
              <a:srgbClr val="C35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04-10-2026                 INTRODUCTION TO AI ROBOTICS (22AIE214)             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"/>
            <a:ext cx="12191695" cy="914400"/>
          </a:xfrm>
          <a:prstGeom prst="rect">
            <a:avLst/>
          </a:prstGeom>
          <a:solidFill>
            <a:srgbClr val="8C2814"/>
          </a:solidFill>
          <a:ln>
            <a:solidFill>
              <a:srgbClr val="8C28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200">
                <a:solidFill>
                  <a:srgbClr val="FFFFFF"/>
                </a:solidFill>
                <a:latin typeface="Times New Roman"/>
              </a:defRPr>
            </a:pPr>
            <a:r>
              <a:t>Amrita Vishwa Vidyapeetham, Amaravati Campus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72865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4400">
                <a:solidFill>
                  <a:srgbClr val="222222"/>
                </a:solidFill>
                <a:latin typeface="Times New Roman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91840"/>
            <a:ext cx="94484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i="1" sz="1550">
                <a:solidFill>
                  <a:srgbClr val="505050"/>
                </a:solidFill>
                <a:latin typeface="Times New Roman"/>
              </a:defRPr>
            </a:pPr>
            <a:r>
              <a:t>"Transforming passive underwater sensor grids into intelligent, adaptive robotic swarms — bringing resilient acoustic surveillance and autonomous traffic governance to maritime harbors."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66344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>
                <a:solidFill>
                  <a:srgbClr val="222222"/>
                </a:solidFill>
                <a:latin typeface="Arial"/>
              </a:defRPr>
            </a:pPr>
            <a:r>
              <a:t>M Ganesh  |  J Kiran  |  P Rahul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35200"/>
          </a:solidFill>
          <a:ln>
            <a:solidFill>
              <a:srgbClr val="C35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92240"/>
            <a:ext cx="11460175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04-10-2026                 INTRODUCTION TO AI ROBOTICS (22AIE214)                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